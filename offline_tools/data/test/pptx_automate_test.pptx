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2700000" cy="900000"/>
          </a:xfrm>
          <a:prstGeom prst="rect">
            <a:avLst/>
          </a:prstGeom>
          <a:solidFill>
            <a:srgbClr val="003399"/>
          </a:solidFill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1_K/C/J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999" y="360000"/>
            <a:ext cx="8640000" cy="900000"/>
          </a:xfrm>
          <a:prstGeom prst="rect">
            <a:avLst/>
          </a:prstGeom>
          <a:solidFill>
            <a:srgbClr val="E6EEF0"/>
          </a:solidFill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[CK Line / Pancon] China-Japan 1 (CJ1) / China-Korea-Japan (CJ1) - China leg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99" y="1440000"/>
          <a:ext cx="874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"/>
                <a:gridCol w="468000"/>
                <a:gridCol w="1116000"/>
                <a:gridCol w="4716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Carriers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Ships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CK Line / Pancon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x 1,009 teu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Ningbo,Shanghai,Busan,Niigata,Toyama,Kanazawa,Ulsan,Busan,Kwangyang,Ningbo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31999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HKT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550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Sat 16 ~ Sun 08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08000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BPTS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750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Sat 06 ~ Sat 22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2700000" cy="900000"/>
          </a:xfrm>
          <a:prstGeom prst="rect">
            <a:avLst/>
          </a:prstGeom>
          <a:solidFill>
            <a:srgbClr val="003399"/>
          </a:solidFill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2_K/C/J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999" y="360000"/>
            <a:ext cx="8640000" cy="900000"/>
          </a:xfrm>
          <a:prstGeom prst="rect">
            <a:avLst/>
          </a:prstGeom>
          <a:solidFill>
            <a:srgbClr val="E6EEF0"/>
          </a:solidFill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[KMTC] Korea-North China-Japan service (CKJ) - China leg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99" y="1440000"/>
          <a:ext cx="874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"/>
                <a:gridCol w="468000"/>
                <a:gridCol w="1116000"/>
                <a:gridCol w="4716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Carriers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Ships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KMTC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x 1,005 teu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Xingang,Dalian,Pohang,Busan,Naoetsu,Toyama,Niigata,Ulsan,Busan,Xingang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31999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HKT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800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Wed 13 ~ Thu 10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2700000" cy="900000"/>
          </a:xfrm>
          <a:prstGeom prst="rect">
            <a:avLst/>
          </a:prstGeom>
          <a:solidFill>
            <a:srgbClr val="003399"/>
          </a:solidFill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3_K/C/J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999" y="360000"/>
            <a:ext cx="8640000" cy="900000"/>
          </a:xfrm>
          <a:prstGeom prst="rect">
            <a:avLst/>
          </a:prstGeom>
          <a:solidFill>
            <a:srgbClr val="E6EEF0"/>
          </a:solidFill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[KMTC / Namsung ] New China Japan (NCJ) - China leg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99" y="1440000"/>
          <a:ext cx="874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"/>
                <a:gridCol w="468000"/>
                <a:gridCol w="1116000"/>
                <a:gridCol w="4716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Carriers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Ships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KMTC / Namsung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x 1,049 teu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Busan,Ulsan,Kwangyang,Xingang,Qingdao,Busan,Shimizu,Onahama,Sendai,Kamaishi,Niigata,Sakaiminato,Busan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31999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HKT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800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Tue 04 ~ Wed 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2700000" cy="900000"/>
          </a:xfrm>
          <a:prstGeom prst="rect">
            <a:avLst/>
          </a:prstGeom>
          <a:solidFill>
            <a:srgbClr val="003399"/>
          </a:solidFill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4_K/C/J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999" y="360000"/>
            <a:ext cx="8640000" cy="900000"/>
          </a:xfrm>
          <a:prstGeom prst="rect">
            <a:avLst/>
          </a:prstGeom>
          <a:solidFill>
            <a:srgbClr val="E6EEF0"/>
          </a:solidFill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[KMTC / Namsung] New China Qingdao (NCQ) - China leg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99" y="1440000"/>
          <a:ext cx="874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"/>
                <a:gridCol w="468000"/>
                <a:gridCol w="1116000"/>
                <a:gridCol w="4716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Carriers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Ships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KMTC / Namsung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x 1,048 teu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Busan,Ulsan,Kwangyang,Qingdao,Dalian,Busan,Niigata,Akita,Tomakomai,Hachinohe,Sendai,Hitachinaka,Busan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31999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BCT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150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Fri ~ Sat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08000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BPTS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1,000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Sun 17 ~ Mon 08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83999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HKT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800.0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Tue 05 ~ Tue 22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2700000" cy="900000"/>
          </a:xfrm>
          <a:prstGeom prst="rect">
            <a:avLst/>
          </a:prstGeom>
          <a:solidFill>
            <a:srgbClr val="003399"/>
          </a:solidFill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3_SE Asia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999" y="360000"/>
            <a:ext cx="8640000" cy="900000"/>
          </a:xfrm>
          <a:prstGeom prst="rect">
            <a:avLst/>
          </a:prstGeom>
          <a:solidFill>
            <a:srgbClr val="E6EEF0"/>
          </a:solidFill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[Maersk/Hapag-Lloyd] Asia Shuttle 5 (A05) / Korea Shuttle 1 (KS1)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99" y="1440000"/>
          <a:ext cx="874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"/>
                <a:gridCol w="468000"/>
                <a:gridCol w="1116000"/>
                <a:gridCol w="4716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Carriers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Ships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Maersk/Hapag-Lloyd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x 4,578 teu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Kwangyang,Busan,Tanjung Pelepas,Singapore,Kwangyang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31999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PNC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6,700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Sun ~ Mon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2700000" cy="900000"/>
          </a:xfrm>
          <a:prstGeom prst="rect">
            <a:avLst/>
          </a:prstGeom>
          <a:solidFill>
            <a:srgbClr val="003399"/>
          </a:solidFill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4_SE Asia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999" y="360000"/>
            <a:ext cx="8640000" cy="900000"/>
          </a:xfrm>
          <a:prstGeom prst="rect">
            <a:avLst/>
          </a:prstGeom>
          <a:solidFill>
            <a:srgbClr val="E6EEF0"/>
          </a:solidFill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[CMA CGM] Bohai Manila Express (BMX)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99" y="1440000"/>
          <a:ext cx="874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"/>
                <a:gridCol w="468000"/>
                <a:gridCol w="1116000"/>
                <a:gridCol w="4716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Carriers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Ships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CMA CGM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x 3,569 teu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Busan,Dalian,Xingang,Qingdao,Xiamen,Shantou,Shekou,Hong Kong,Nansha,Manila(N/S),Davao,Busan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31999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BNCT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1,293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Fri 08 ~ Sat 01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2700000" cy="900000"/>
          </a:xfrm>
          <a:prstGeom prst="rect">
            <a:avLst/>
          </a:prstGeom>
          <a:solidFill>
            <a:srgbClr val="003399"/>
          </a:solidFill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1_FE-MED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999" y="360000"/>
            <a:ext cx="8640000" cy="900000"/>
          </a:xfrm>
          <a:prstGeom prst="rect">
            <a:avLst/>
          </a:prstGeom>
          <a:solidFill>
            <a:srgbClr val="E6EEF0"/>
          </a:solidFill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[CMA CGM] Asia-Med Service 2 (MED2) (Med Club Express(MEX) / AEM2 / WM2 / MEX1)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99" y="1440000"/>
          <a:ext cx="874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"/>
                <a:gridCol w="468000"/>
                <a:gridCol w="1116000"/>
                <a:gridCol w="4716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Carriers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Ships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CMA CGM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 x 15,277 teu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Qingdao,Busan,Shanghai,Ningbo,Xiamen,Nansha,Shekou,Singapore,Valencia,Barcelona,Fos,Marsaxlokk,Port Klang,Qingdao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31999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BNCT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5,300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Fri ~ Sat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2700000" cy="900000"/>
          </a:xfrm>
          <a:prstGeom prst="rect">
            <a:avLst/>
          </a:prstGeom>
          <a:solidFill>
            <a:srgbClr val="003399"/>
          </a:solidFill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2_FE-MED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999" y="360000"/>
            <a:ext cx="8640000" cy="900000"/>
          </a:xfrm>
          <a:prstGeom prst="rect">
            <a:avLst/>
          </a:prstGeom>
          <a:solidFill>
            <a:srgbClr val="E6EEF0"/>
          </a:solidFill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[CMA CGM] Asia-Med Service 5 (MED5) (Phoenixian Express(PHOEX) / AEM6 / AAS / BEX2)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99" y="1440000"/>
          <a:ext cx="874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"/>
                <a:gridCol w="468000"/>
                <a:gridCol w="1116000"/>
                <a:gridCol w="4716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Carriers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Ships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CMA CGM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 x 13,566 teu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Shanghai,Ningbo,Busan,Shekou,Singapore,(Suez Canal),Alexandria,Beirut,Tripoli,Koper,Trieste,Rijeka,Alexandria,(Suez Canal),Jeddah,Port Klang,Shekou,Shanghai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31999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BNCT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4,700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Fri ~ Sat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2700000" cy="900000"/>
          </a:xfrm>
          <a:prstGeom prst="rect">
            <a:avLst/>
          </a:prstGeom>
          <a:solidFill>
            <a:srgbClr val="003399"/>
          </a:solidFill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3_FE-MED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999" y="360000"/>
            <a:ext cx="8640000" cy="900000"/>
          </a:xfrm>
          <a:prstGeom prst="rect">
            <a:avLst/>
          </a:prstGeom>
          <a:solidFill>
            <a:srgbClr val="E6EEF0"/>
          </a:solidFill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[MSC] Dragon (Premier Alliance : MD4)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99" y="1440000"/>
          <a:ext cx="874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"/>
                <a:gridCol w="468000"/>
                <a:gridCol w="1116000"/>
                <a:gridCol w="4716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Carriers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Ships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 x 14,904 teu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Busan,Shanghai,Nansha,Yantian,Singapore,Marsaxlokk,,Genoa,La Spezia,Fos,Malaga,Abidjan,Lome,Nhava Sheva,Mundra,Vizhinjam,Busan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31999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PNIT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4,000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Thu ~ Fri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2700000" cy="900000"/>
          </a:xfrm>
          <a:prstGeom prst="rect">
            <a:avLst/>
          </a:prstGeom>
          <a:solidFill>
            <a:srgbClr val="003399"/>
          </a:solidFill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1_FE-N.Eur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999" y="360000"/>
            <a:ext cx="8640000" cy="900000"/>
          </a:xfrm>
          <a:prstGeom prst="rect">
            <a:avLst/>
          </a:prstGeom>
          <a:solidFill>
            <a:srgbClr val="E6EEF0"/>
          </a:solidFill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[HMM/ONE] Far East-Europe 3 (FE3) (MSC : Condor)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99" y="1440000"/>
          <a:ext cx="874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"/>
                <a:gridCol w="468000"/>
                <a:gridCol w="1116000"/>
                <a:gridCol w="4716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Carriers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Ships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HMM/ONE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x 21,780 teu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Qingdao,Busan,Shanghai,Xiamen,Singapore,Algeciras,Rotterdam,Hamburg,Southampton,Singapore,Yantian,Qingdao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31999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HJNC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7,168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Fri ~ Sat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2700000" cy="900000"/>
          </a:xfrm>
          <a:prstGeom prst="rect">
            <a:avLst/>
          </a:prstGeom>
          <a:solidFill>
            <a:srgbClr val="003399"/>
          </a:solidFill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2_FE-N.Eur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999" y="360000"/>
            <a:ext cx="8640000" cy="900000"/>
          </a:xfrm>
          <a:prstGeom prst="rect">
            <a:avLst/>
          </a:prstGeom>
          <a:solidFill>
            <a:srgbClr val="E6EEF0"/>
          </a:solidFill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[MSC] Swan (Premier Alliance : FE6)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99" y="1440000"/>
          <a:ext cx="874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"/>
                <a:gridCol w="468000"/>
                <a:gridCol w="1116000"/>
                <a:gridCol w="4716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Carriers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Ships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 x 16,187 teu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Ningbo,Shanghai,Xiamen,Yantian,Singapore,Le Havre,Rotterdam,Gothenburg,Aarhus,Hamburg,Antwerp,Port Klang,Singapore,Laem Chabang,Cai Mep,Busan,Long Beach,Oakland,Yokohama,Ningbo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31999" y="2700000"/>
          <a:ext cx="2303999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296000"/>
              </a:tblGrid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PNIT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Weekly throughput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3,300 </a:t>
                      </a:r>
                    </a:p>
                  </a:txBody>
                  <a:tcPr anchor="ctr"/>
                </a:tc>
              </a:tr>
              <a:tr h="34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Schedule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Fri ~ Sat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
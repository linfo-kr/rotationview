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[CK Line / Pancon] China-Japan 1 (CJ1) / China-Korea-Japan (CJ1) - China leg</a:t>
            </a:r>
          </a:p>
        </p:txBody>
      </p:sp>
      <p:sp>
        <p:nvSpPr>
          <p:cNvPr id="3" name="Oval 2"/>
          <p:cNvSpPr/>
          <p:nvPr/>
        </p:nvSpPr>
        <p:spPr>
          <a:xfrm>
            <a:off x="8982000" y="3581999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82000" y="3806999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Ningbo</a:t>
            </a:r>
          </a:p>
        </p:txBody>
      </p:sp>
      <p:sp>
        <p:nvSpPr>
          <p:cNvPr id="5" name="Oval 4"/>
          <p:cNvSpPr/>
          <p:nvPr/>
        </p:nvSpPr>
        <p:spPr>
          <a:xfrm>
            <a:off x="8910000" y="3330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10000" y="3555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Shanghai</a:t>
            </a:r>
          </a:p>
        </p:txBody>
      </p:sp>
      <p:sp>
        <p:nvSpPr>
          <p:cNvPr id="7" name="Oval 6"/>
          <p:cNvSpPr/>
          <p:nvPr/>
        </p:nvSpPr>
        <p:spPr>
          <a:xfrm>
            <a:off x="10170000" y="2861999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70000" y="3086999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Busan</a:t>
            </a:r>
          </a:p>
        </p:txBody>
      </p:sp>
      <p:sp>
        <p:nvSpPr>
          <p:cNvPr id="9" name="Oval 8"/>
          <p:cNvSpPr/>
          <p:nvPr/>
        </p:nvSpPr>
        <p:spPr>
          <a:xfrm>
            <a:off x="11070000" y="2070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70000" y="2295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Niigata</a:t>
            </a:r>
          </a:p>
        </p:txBody>
      </p:sp>
      <p:sp>
        <p:nvSpPr>
          <p:cNvPr id="11" name="Oval 10"/>
          <p:cNvSpPr/>
          <p:nvPr/>
        </p:nvSpPr>
        <p:spPr>
          <a:xfrm>
            <a:off x="10890000" y="2250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890000" y="2475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Toyama</a:t>
            </a:r>
          </a:p>
        </p:txBody>
      </p:sp>
      <p:sp>
        <p:nvSpPr>
          <p:cNvPr id="13" name="Oval 12"/>
          <p:cNvSpPr/>
          <p:nvPr/>
        </p:nvSpPr>
        <p:spPr>
          <a:xfrm>
            <a:off x="10710000" y="2430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10000" y="2655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Kanazawa</a:t>
            </a:r>
          </a:p>
        </p:txBody>
      </p:sp>
      <p:sp>
        <p:nvSpPr>
          <p:cNvPr id="15" name="Oval 14"/>
          <p:cNvSpPr/>
          <p:nvPr/>
        </p:nvSpPr>
        <p:spPr>
          <a:xfrm>
            <a:off x="10350000" y="2610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350000" y="2835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Ulsan</a:t>
            </a:r>
          </a:p>
        </p:txBody>
      </p:sp>
      <p:sp>
        <p:nvSpPr>
          <p:cNvPr id="17" name="Oval 16"/>
          <p:cNvSpPr/>
          <p:nvPr/>
        </p:nvSpPr>
        <p:spPr>
          <a:xfrm>
            <a:off x="10170000" y="2861999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70000" y="3086999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Busan</a:t>
            </a:r>
          </a:p>
        </p:txBody>
      </p:sp>
      <p:sp>
        <p:nvSpPr>
          <p:cNvPr id="19" name="Oval 18"/>
          <p:cNvSpPr/>
          <p:nvPr/>
        </p:nvSpPr>
        <p:spPr>
          <a:xfrm>
            <a:off x="9918000" y="3078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18000" y="3303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Kwangyang</a:t>
            </a:r>
          </a:p>
        </p:txBody>
      </p:sp>
      <p:sp>
        <p:nvSpPr>
          <p:cNvPr id="21" name="Oval 20"/>
          <p:cNvSpPr/>
          <p:nvPr/>
        </p:nvSpPr>
        <p:spPr>
          <a:xfrm>
            <a:off x="8982000" y="3581999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82000" y="3806999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Ningbo</a:t>
            </a:r>
          </a:p>
        </p:txBody>
      </p:sp>
      <p:cxnSp>
        <p:nvCxnSpPr>
          <p:cNvPr id="23" name="Connector 22"/>
          <p:cNvCxnSpPr/>
          <p:nvPr/>
        </p:nvCxnSpPr>
        <p:spPr>
          <a:xfrm flipH="1" flipV="1">
            <a:off x="9000000" y="3420000"/>
            <a:ext cx="72000" cy="251999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9000000" y="2951999"/>
            <a:ext cx="1260000" cy="468001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10260000" y="2160000"/>
            <a:ext cx="900000" cy="791999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10980000" y="2160000"/>
            <a:ext cx="180000" cy="180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>
            <a:off x="10800000" y="2340000"/>
            <a:ext cx="180000" cy="180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0440000" y="2520000"/>
            <a:ext cx="360000" cy="180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10260000" y="2700000"/>
            <a:ext cx="180000" cy="251999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10008000" y="2951999"/>
            <a:ext cx="252000" cy="216001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9072000" y="3168000"/>
            <a:ext cx="936000" cy="503999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[KMTC] Korea-North China-Japan service (CKJ) - China leg</a:t>
            </a:r>
          </a:p>
        </p:txBody>
      </p:sp>
      <p:sp>
        <p:nvSpPr>
          <p:cNvPr id="3" name="Oval 2"/>
          <p:cNvSpPr/>
          <p:nvPr/>
        </p:nvSpPr>
        <p:spPr>
          <a:xfrm>
            <a:off x="8730000" y="2250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730000" y="2475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Xingang</a:t>
            </a:r>
          </a:p>
        </p:txBody>
      </p:sp>
      <p:sp>
        <p:nvSpPr>
          <p:cNvPr id="5" name="Oval 4"/>
          <p:cNvSpPr/>
          <p:nvPr/>
        </p:nvSpPr>
        <p:spPr>
          <a:xfrm>
            <a:off x="9090000" y="2070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90000" y="2295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Dalian</a:t>
            </a:r>
          </a:p>
        </p:txBody>
      </p:sp>
      <p:sp>
        <p:nvSpPr>
          <p:cNvPr id="7" name="Oval 6"/>
          <p:cNvSpPr/>
          <p:nvPr/>
        </p:nvSpPr>
        <p:spPr>
          <a:xfrm>
            <a:off x="10170000" y="2861999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70000" y="3086999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Busan</a:t>
            </a:r>
          </a:p>
        </p:txBody>
      </p:sp>
      <p:sp>
        <p:nvSpPr>
          <p:cNvPr id="9" name="Oval 8"/>
          <p:cNvSpPr/>
          <p:nvPr/>
        </p:nvSpPr>
        <p:spPr>
          <a:xfrm>
            <a:off x="10890000" y="2250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890000" y="2475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Toyama</a:t>
            </a:r>
          </a:p>
        </p:txBody>
      </p:sp>
      <p:sp>
        <p:nvSpPr>
          <p:cNvPr id="11" name="Oval 10"/>
          <p:cNvSpPr/>
          <p:nvPr/>
        </p:nvSpPr>
        <p:spPr>
          <a:xfrm>
            <a:off x="11070000" y="2070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70000" y="2295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Niigata</a:t>
            </a:r>
          </a:p>
        </p:txBody>
      </p:sp>
      <p:sp>
        <p:nvSpPr>
          <p:cNvPr id="13" name="Oval 12"/>
          <p:cNvSpPr/>
          <p:nvPr/>
        </p:nvSpPr>
        <p:spPr>
          <a:xfrm>
            <a:off x="10350000" y="2610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50000" y="2835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Ulsan</a:t>
            </a:r>
          </a:p>
        </p:txBody>
      </p:sp>
      <p:sp>
        <p:nvSpPr>
          <p:cNvPr id="15" name="Oval 14"/>
          <p:cNvSpPr/>
          <p:nvPr/>
        </p:nvSpPr>
        <p:spPr>
          <a:xfrm>
            <a:off x="10170000" y="2861999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70000" y="3086999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Busan</a:t>
            </a:r>
          </a:p>
        </p:txBody>
      </p:sp>
      <p:sp>
        <p:nvSpPr>
          <p:cNvPr id="17" name="Oval 16"/>
          <p:cNvSpPr/>
          <p:nvPr/>
        </p:nvSpPr>
        <p:spPr>
          <a:xfrm>
            <a:off x="8730000" y="2250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30000" y="2475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Xingang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8820000" y="2160000"/>
            <a:ext cx="360000" cy="180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180000" y="2160000"/>
            <a:ext cx="1080000" cy="791999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260000" y="2340000"/>
            <a:ext cx="720000" cy="611999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0980000" y="2160000"/>
            <a:ext cx="180000" cy="180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>
            <a:off x="10440000" y="2160000"/>
            <a:ext cx="720000" cy="540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0260000" y="2700000"/>
            <a:ext cx="180000" cy="251999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 flipV="1">
            <a:off x="8820000" y="2340000"/>
            <a:ext cx="1440000" cy="611999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[KMTC / Namsung ] New China Japan (NCJ) - China leg</a:t>
            </a:r>
          </a:p>
        </p:txBody>
      </p:sp>
      <p:sp>
        <p:nvSpPr>
          <p:cNvPr id="3" name="Oval 2"/>
          <p:cNvSpPr/>
          <p:nvPr/>
        </p:nvSpPr>
        <p:spPr>
          <a:xfrm>
            <a:off x="10170000" y="2861999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70000" y="3086999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Busan</a:t>
            </a:r>
          </a:p>
        </p:txBody>
      </p:sp>
      <p:sp>
        <p:nvSpPr>
          <p:cNvPr id="5" name="Oval 4"/>
          <p:cNvSpPr/>
          <p:nvPr/>
        </p:nvSpPr>
        <p:spPr>
          <a:xfrm>
            <a:off x="10350000" y="2610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50000" y="2835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Ulsan</a:t>
            </a:r>
          </a:p>
        </p:txBody>
      </p:sp>
      <p:sp>
        <p:nvSpPr>
          <p:cNvPr id="7" name="Oval 6"/>
          <p:cNvSpPr/>
          <p:nvPr/>
        </p:nvSpPr>
        <p:spPr>
          <a:xfrm>
            <a:off x="9918000" y="3078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18000" y="3303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Kwangyang</a:t>
            </a:r>
          </a:p>
        </p:txBody>
      </p:sp>
      <p:sp>
        <p:nvSpPr>
          <p:cNvPr id="9" name="Oval 8"/>
          <p:cNvSpPr/>
          <p:nvPr/>
        </p:nvSpPr>
        <p:spPr>
          <a:xfrm>
            <a:off x="8730000" y="2250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0000" y="2475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Xingang</a:t>
            </a:r>
          </a:p>
        </p:txBody>
      </p:sp>
      <p:sp>
        <p:nvSpPr>
          <p:cNvPr id="11" name="Oval 10"/>
          <p:cNvSpPr/>
          <p:nvPr/>
        </p:nvSpPr>
        <p:spPr>
          <a:xfrm>
            <a:off x="8838000" y="2718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38000" y="2943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Qingdao</a:t>
            </a:r>
          </a:p>
        </p:txBody>
      </p:sp>
      <p:sp>
        <p:nvSpPr>
          <p:cNvPr id="13" name="Oval 12"/>
          <p:cNvSpPr/>
          <p:nvPr/>
        </p:nvSpPr>
        <p:spPr>
          <a:xfrm>
            <a:off x="10170000" y="2861999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70000" y="3086999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Busan</a:t>
            </a:r>
          </a:p>
        </p:txBody>
      </p:sp>
      <p:sp>
        <p:nvSpPr>
          <p:cNvPr id="15" name="Oval 14"/>
          <p:cNvSpPr/>
          <p:nvPr/>
        </p:nvSpPr>
        <p:spPr>
          <a:xfrm>
            <a:off x="11070000" y="2070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70000" y="2295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Niigata</a:t>
            </a:r>
          </a:p>
        </p:txBody>
      </p:sp>
      <p:sp>
        <p:nvSpPr>
          <p:cNvPr id="17" name="Oval 16"/>
          <p:cNvSpPr/>
          <p:nvPr/>
        </p:nvSpPr>
        <p:spPr>
          <a:xfrm>
            <a:off x="10170000" y="2861999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70000" y="3086999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Busan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0260000" y="2700000"/>
            <a:ext cx="180000" cy="251999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0008000" y="2700000"/>
            <a:ext cx="432000" cy="468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8820000" y="2340000"/>
            <a:ext cx="1188000" cy="828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820000" y="2340000"/>
            <a:ext cx="108000" cy="468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928000" y="2808000"/>
            <a:ext cx="1332000" cy="143999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260000" y="2160000"/>
            <a:ext cx="900000" cy="791999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0260000" y="2160000"/>
            <a:ext cx="900000" cy="791999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[KMTC / Namsung] New China Qingdao (NCQ) - China leg</a:t>
            </a:r>
          </a:p>
        </p:txBody>
      </p:sp>
      <p:sp>
        <p:nvSpPr>
          <p:cNvPr id="3" name="Oval 2"/>
          <p:cNvSpPr/>
          <p:nvPr/>
        </p:nvSpPr>
        <p:spPr>
          <a:xfrm>
            <a:off x="10170000" y="2861999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70000" y="3086999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Busan</a:t>
            </a:r>
          </a:p>
        </p:txBody>
      </p:sp>
      <p:sp>
        <p:nvSpPr>
          <p:cNvPr id="5" name="Oval 4"/>
          <p:cNvSpPr/>
          <p:nvPr/>
        </p:nvSpPr>
        <p:spPr>
          <a:xfrm>
            <a:off x="10350000" y="2610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50000" y="2835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Ulsan</a:t>
            </a:r>
          </a:p>
        </p:txBody>
      </p:sp>
      <p:sp>
        <p:nvSpPr>
          <p:cNvPr id="7" name="Oval 6"/>
          <p:cNvSpPr/>
          <p:nvPr/>
        </p:nvSpPr>
        <p:spPr>
          <a:xfrm>
            <a:off x="9918000" y="3078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18000" y="3303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Kwangyang</a:t>
            </a:r>
          </a:p>
        </p:txBody>
      </p:sp>
      <p:sp>
        <p:nvSpPr>
          <p:cNvPr id="9" name="Oval 8"/>
          <p:cNvSpPr/>
          <p:nvPr/>
        </p:nvSpPr>
        <p:spPr>
          <a:xfrm>
            <a:off x="8838000" y="2718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38000" y="2943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Qingdao</a:t>
            </a:r>
          </a:p>
        </p:txBody>
      </p:sp>
      <p:sp>
        <p:nvSpPr>
          <p:cNvPr id="11" name="Oval 10"/>
          <p:cNvSpPr/>
          <p:nvPr/>
        </p:nvSpPr>
        <p:spPr>
          <a:xfrm>
            <a:off x="9090000" y="2070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0000" y="2295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Dalian</a:t>
            </a:r>
          </a:p>
        </p:txBody>
      </p:sp>
      <p:sp>
        <p:nvSpPr>
          <p:cNvPr id="13" name="Oval 12"/>
          <p:cNvSpPr/>
          <p:nvPr/>
        </p:nvSpPr>
        <p:spPr>
          <a:xfrm>
            <a:off x="10170000" y="2861999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170000" y="3086999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Busan</a:t>
            </a:r>
          </a:p>
        </p:txBody>
      </p:sp>
      <p:sp>
        <p:nvSpPr>
          <p:cNvPr id="15" name="Oval 14"/>
          <p:cNvSpPr/>
          <p:nvPr/>
        </p:nvSpPr>
        <p:spPr>
          <a:xfrm>
            <a:off x="11070000" y="2070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70000" y="2295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Niigata</a:t>
            </a:r>
          </a:p>
        </p:txBody>
      </p:sp>
      <p:sp>
        <p:nvSpPr>
          <p:cNvPr id="17" name="Oval 16"/>
          <p:cNvSpPr/>
          <p:nvPr/>
        </p:nvSpPr>
        <p:spPr>
          <a:xfrm>
            <a:off x="10170000" y="2861999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70000" y="3086999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Busan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10260000" y="2700000"/>
            <a:ext cx="180000" cy="251999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10008000" y="2700000"/>
            <a:ext cx="432000" cy="468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8928000" y="2808000"/>
            <a:ext cx="1080000" cy="360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8928000" y="2160000"/>
            <a:ext cx="252000" cy="648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9180000" y="2160000"/>
            <a:ext cx="1080000" cy="791999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0260000" y="2160000"/>
            <a:ext cx="900000" cy="791999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0260000" y="2160000"/>
            <a:ext cx="900000" cy="791999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80000"/>
            <a:ext cx="108000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[Maersk/Hapag-Lloyd] Asia Shuttle 5 (A05) / Korea Shuttle 1 (KS1)</a:t>
            </a:r>
          </a:p>
        </p:txBody>
      </p:sp>
      <p:sp>
        <p:nvSpPr>
          <p:cNvPr id="3" name="Oval 2"/>
          <p:cNvSpPr/>
          <p:nvPr/>
        </p:nvSpPr>
        <p:spPr>
          <a:xfrm>
            <a:off x="9918000" y="3078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918000" y="3303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Kwangyang</a:t>
            </a:r>
          </a:p>
        </p:txBody>
      </p:sp>
      <p:sp>
        <p:nvSpPr>
          <p:cNvPr id="5" name="Oval 4"/>
          <p:cNvSpPr/>
          <p:nvPr/>
        </p:nvSpPr>
        <p:spPr>
          <a:xfrm>
            <a:off x="10170000" y="2861999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70000" y="3086999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Busan</a:t>
            </a:r>
          </a:p>
        </p:txBody>
      </p:sp>
      <p:sp>
        <p:nvSpPr>
          <p:cNvPr id="7" name="Oval 6"/>
          <p:cNvSpPr/>
          <p:nvPr/>
        </p:nvSpPr>
        <p:spPr>
          <a:xfrm>
            <a:off x="6318000" y="5670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18000" y="5895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Tanjung Pelepas</a:t>
            </a:r>
          </a:p>
        </p:txBody>
      </p:sp>
      <p:sp>
        <p:nvSpPr>
          <p:cNvPr id="9" name="Oval 8"/>
          <p:cNvSpPr/>
          <p:nvPr/>
        </p:nvSpPr>
        <p:spPr>
          <a:xfrm>
            <a:off x="6390000" y="5490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90000" y="5715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Singapore</a:t>
            </a:r>
          </a:p>
        </p:txBody>
      </p:sp>
      <p:sp>
        <p:nvSpPr>
          <p:cNvPr id="11" name="Oval 10"/>
          <p:cNvSpPr/>
          <p:nvPr/>
        </p:nvSpPr>
        <p:spPr>
          <a:xfrm>
            <a:off x="9918000" y="3078000"/>
            <a:ext cx="180000" cy="180000"/>
          </a:xfrm>
          <a:prstGeom prst="ellipse">
            <a:avLst/>
          </a:prstGeom>
          <a:solidFill>
            <a:srgbClr val="0070C0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18000" y="3303000"/>
            <a:ext cx="900000" cy="18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latin typeface="Arial"/>
              </a:defRPr>
            </a:pPr>
            <a:r>
              <a:t>Kwangyang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10008000" y="2951999"/>
            <a:ext cx="252000" cy="216001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408000" y="2951999"/>
            <a:ext cx="3852000" cy="2808001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6408000" y="5580000"/>
            <a:ext cx="72000" cy="180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480000" y="3168000"/>
            <a:ext cx="3528000" cy="2412000"/>
          </a:xfrm>
          <a:prstGeom prst="line">
            <a:avLst/>
          </a:prstGeom>
          <a:ln w="19050">
            <a:solidFill>
              <a:srgbClr val="0020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